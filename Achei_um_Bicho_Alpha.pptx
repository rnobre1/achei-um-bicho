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8FB4B2"/>
                </a:solidFill>
                <a:latin typeface="IBM Plex Mono"/>
              </a:rPr>
              <a:t>LABORATÓRIO DE DESENVOLVIMENTO DE SOFTWARE · UFOPA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6600" b="1">
                <a:solidFill>
                  <a:srgbClr val="EEF2EE"/>
                </a:solidFill>
                <a:latin typeface="Commissioner"/>
              </a:rPr>
              <a:t>Achei um Bicho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6CECB"/>
                </a:solidFill>
                <a:latin typeface="IBM Plex Sans"/>
              </a:rPr>
              <a:t>Alpha: publicar, ver, avisar e aproximar, funcionando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977639"/>
            <a:ext cx="1426464" cy="25603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96896" y="3977639"/>
            <a:ext cx="1426464" cy="25603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2404872" y="3927348"/>
            <a:ext cx="179222" cy="179222"/>
          </a:xfrm>
          <a:prstGeom prst="diamond">
            <a:avLst/>
          </a:prstGeom>
          <a:solidFill>
            <a:srgbClr val="E2A83B"/>
          </a:solidFill>
          <a:ln w="9525">
            <a:solidFill>
              <a:srgbClr val="123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9FBDBB"/>
                </a:solidFill>
                <a:latin typeface="IBM Plex Sans"/>
              </a:rPr>
              <a:t>Desafio 2 — Causa Animal e Cultura · ODS 15 (Vida Terrestre)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9FBDBB"/>
                </a:solidFill>
                <a:latin typeface="IBM Plex Sans"/>
              </a:rPr>
              <a:t>Alpha release · 16 de outubro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49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6F9799"/>
                </a:solidFill>
                <a:latin typeface="IBM Plex Mono"/>
              </a:rPr>
              <a:t>EQUIPE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6CECB"/>
                </a:solidFill>
                <a:latin typeface="IBM Plex Sans"/>
              </a:rPr>
              <a:t>Bruna Kellen · Murilo Falcão · Rafael Nobre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ONDE ESTAMOS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23E4A"/>
                </a:solidFill>
                <a:latin typeface="Commissioner"/>
              </a:rPr>
              <a:t>Cinco de nove, no 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029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Publicar bicho perdido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0574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F8587"/>
                </a:solidFill>
                <a:latin typeface="IBM Plex Mono"/>
              </a:rPr>
              <a:t>pronto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41448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5973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Publicar bicho encontrado, sem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4871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F8587"/>
                </a:solidFill>
                <a:latin typeface="IBM Plex Mono"/>
              </a:rPr>
              <a:t>pronto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71216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8895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Mural por proximidade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91693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F8587"/>
                </a:solidFill>
                <a:latin typeface="IBM Plex Mono"/>
              </a:rPr>
              <a:t>pronto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300984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1927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Caso aberto e avistamento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34670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F8587"/>
                </a:solidFill>
                <a:latin typeface="IBM Plex Mono"/>
              </a:rPr>
              <a:t>pronto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730752"/>
            <a:ext cx="457200" cy="274320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7490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Pareamento determinístico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7764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F8587"/>
                </a:solidFill>
                <a:latin typeface="IBM Plex Mono"/>
              </a:rPr>
              <a:t>pronto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457200" cy="274320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23E4A"/>
                </a:solidFill>
                <a:latin typeface="IBM Plex Mono"/>
              </a:rPr>
              <a:t>F6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1788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Verificação por sinal particular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420624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76"/>
                </a:solidFill>
                <a:latin typeface="IBM Plex Mono"/>
              </a:rPr>
              <a:t>próximas sprints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590288"/>
            <a:ext cx="457200" cy="274320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23E4A"/>
                </a:solidFill>
                <a:latin typeface="IBM Plex Mono"/>
              </a:rPr>
              <a:t>F7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608575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Contato mediado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4636007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76"/>
                </a:solidFill>
                <a:latin typeface="IBM Plex Mono"/>
              </a:rPr>
              <a:t>próximas sprints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020056"/>
            <a:ext cx="457200" cy="274320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23E4A"/>
                </a:solidFill>
                <a:latin typeface="IBM Plex Mono"/>
              </a:rPr>
              <a:t>F8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38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Ciclo de vida do caso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5065776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76"/>
                </a:solidFill>
                <a:latin typeface="IBM Plex Mono"/>
              </a:rPr>
              <a:t>próximas sprints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449824"/>
            <a:ext cx="457200" cy="274320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123E4A"/>
                </a:solidFill>
                <a:latin typeface="IBM Plex Mono"/>
              </a:rPr>
              <a:t>F9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46811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5F7076"/>
                </a:solidFill>
                <a:latin typeface="IBM Plex Sans"/>
              </a:rPr>
              <a:t>Publicação sem conexão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49554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7076"/>
                </a:solidFill>
                <a:latin typeface="IBM Plex Mono"/>
              </a:rPr>
              <a:t>próximas sprints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1874519"/>
            <a:ext cx="2697480" cy="3977639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0" y="21488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8FB4B2"/>
                </a:solidFill>
                <a:latin typeface="IBM Plex Mono"/>
              </a:rPr>
              <a:t>ABRA AGORA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450592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>
                <a:solidFill>
                  <a:srgbClr val="EEF2EE"/>
                </a:solidFill>
                <a:latin typeface="Commissioner"/>
              </a:rPr>
              <a:t>A versão web está no ar</a:t>
            </a:r>
          </a:p>
        </p:txBody>
      </p:sp>
      <p:pic>
        <p:nvPicPr>
          <p:cNvPr id="35" name="Picture 34" descr="qr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3728" y="3429000"/>
            <a:ext cx="1600200" cy="16002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1540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B6CECB"/>
                </a:solidFill>
                <a:latin typeface="IBM Plex Mono"/>
              </a:rPr>
              <a:t>achei-um-bicho.onrender.com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1-casos-pe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641913" cy="57241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25202" y="1005840"/>
            <a:ext cx="758069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23E4A"/>
                </a:solidFill>
                <a:latin typeface="Commissioner"/>
              </a:rPr>
              <a:t>Casos perto de você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0922" y="2331720"/>
            <a:ext cx="75806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323A"/>
                </a:solidFill>
                <a:latin typeface="IBM Plex Sans"/>
              </a:rPr>
              <a:t>O mural abre em volta de quem está olhando, com raio de 1,6 km.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0922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18394" y="3611880"/>
            <a:ext cx="72149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A consulta por raio roda no banco, com índice espacial: ST_DWithin no PostGIS.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0922" y="459028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18394" y="4480560"/>
            <a:ext cx="721493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Mural vazio não mostra caso fictício: diz quantos existem até 5 km e oferece ampliar ou convidar vizinhos.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0922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70922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2-publi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641913" cy="5724144"/>
          </a:xfrm>
          <a:prstGeom prst="rect">
            <a:avLst/>
          </a:prstGeom>
        </p:spPr>
      </p:pic>
      <p:pic>
        <p:nvPicPr>
          <p:cNvPr id="4" name="Picture 3" descr="05-codi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22" y="566928"/>
            <a:ext cx="2641913" cy="5724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4565" y="1005840"/>
            <a:ext cx="466132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23E4A"/>
                </a:solidFill>
                <a:latin typeface="Commissioner"/>
              </a:rPr>
              <a:t>Publicar em quatro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285" y="2331720"/>
            <a:ext cx="466132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323A"/>
                </a:solidFill>
                <a:latin typeface="IBM Plex Sans"/>
              </a:rPr>
              <a:t>Quem perdeu e quem achou publicam pelo mesmo caminho. Quem achou não precisa de conta.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90285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757" y="3611880"/>
            <a:ext cx="429556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Porte, cor e coleira são escolha fechada: exatamente o que o pareamento compara.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90285" y="459028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757" y="4480560"/>
            <a:ext cx="429556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No fim sai um código de edição, guardado no celular; o banco só guarda o hash dele.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0285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90285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8653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3-caso-aber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644545" cy="5724144"/>
          </a:xfrm>
          <a:prstGeom prst="rect">
            <a:avLst/>
          </a:prstGeom>
        </p:spPr>
      </p:pic>
      <p:pic>
        <p:nvPicPr>
          <p:cNvPr id="4" name="Picture 3" descr="04-avist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22" y="566928"/>
            <a:ext cx="2644545" cy="5724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4565" y="1005840"/>
            <a:ext cx="466132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23E4A"/>
                </a:solidFill>
                <a:latin typeface="Commissioner"/>
              </a:rPr>
              <a:t>Caso aberto e avistamento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285" y="2331720"/>
            <a:ext cx="466132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323A"/>
                </a:solidFill>
                <a:latin typeface="IBM Plex Sans"/>
              </a:rPr>
              <a:t>Quem passou na rua avisa sem conta; quem publicou vê onde e quando.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90285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757" y="3611880"/>
            <a:ext cx="429556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O mapa mostra uma área aproximada, sempre o mesmo círculo; tocar abre no Google Maps, sem pino.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90285" y="459028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757" y="4480560"/>
            <a:ext cx="429556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Quem publicou vê a distância e o bairro de quem avisou, nunca o ponto exato.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0285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90285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06-pis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66928"/>
            <a:ext cx="2644545" cy="5724144"/>
          </a:xfrm>
          <a:prstGeom prst="rect">
            <a:avLst/>
          </a:prstGeom>
        </p:spPr>
      </p:pic>
      <p:pic>
        <p:nvPicPr>
          <p:cNvPr id="4" name="Picture 3" descr="07-meus-ca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322" y="566928"/>
            <a:ext cx="2644545" cy="57241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4565" y="1005840"/>
            <a:ext cx="4661329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123E4A"/>
                </a:solidFill>
                <a:latin typeface="Commissioner"/>
              </a:rPr>
              <a:t>Pode ser o mesmo bicho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90285" y="2331720"/>
            <a:ext cx="466132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>
                <a:solidFill>
                  <a:srgbClr val="16323A"/>
                </a:solidFill>
                <a:latin typeface="IBM Plex Sans"/>
              </a:rPr>
              <a:t>Ao publicar, o sistema procura do outro lado e mostra o que bateu e o que não bateu.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90285" y="372160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7757" y="3611880"/>
            <a:ext cx="429556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Sem nota nem porcentagem: o par que bate em tudo vem primeiro, mesmo que outro esteja mais perto.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90285" y="4590288"/>
            <a:ext cx="146304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7757" y="4480560"/>
            <a:ext cx="429556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Quem decide é uma pessoa. “Não é” descarta o par para os dois lados.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0285" y="54406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spc="140">
                <a:solidFill>
                  <a:srgbClr val="5F7076"/>
                </a:solidFill>
                <a:latin typeface="IBM Plex Mono"/>
              </a:rPr>
              <a:t>ATENDE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90285" y="5742432"/>
            <a:ext cx="566928" cy="27432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IBM Plex Mono"/>
              </a:rPr>
              <a:t>F5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23E4A"/>
                </a:solidFill>
                <a:latin typeface="Commissioner"/>
              </a:rPr>
              <a:t>Três peças, todas grátis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3017520" cy="1143000"/>
          </a:xfrm>
          <a:prstGeom prst="rect">
            <a:avLst/>
          </a:prstGeom>
          <a:solidFill>
            <a:srgbClr val="E4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762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23E4A"/>
                </a:solidFill>
                <a:latin typeface="Commissioner"/>
              </a:rPr>
              <a:t>Aplicativo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7860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23E4A"/>
                </a:solidFill>
                <a:latin typeface="IBM Plex Mono"/>
              </a:rPr>
              <a:t>React Native + Expo
APK pelo EAS · web no Render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2011680"/>
            <a:ext cx="3017520" cy="114300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21762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EEF2EE"/>
                </a:solidFill>
                <a:latin typeface="Commissioner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257860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6CECB"/>
                </a:solidFill>
                <a:latin typeface="IBM Plex Mono"/>
              </a:rPr>
              <a:t>NestJS + Prisma
Docker no Render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2011680"/>
            <a:ext cx="3017520" cy="1143000"/>
          </a:xfrm>
          <a:prstGeom prst="rect">
            <a:avLst/>
          </a:prstGeom>
          <a:solidFill>
            <a:srgbClr val="E4E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217627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23E4A"/>
                </a:solidFill>
                <a:latin typeface="Commissioner"/>
              </a:rPr>
              <a:t>Banco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57860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23E4A"/>
                </a:solidFill>
                <a:latin typeface="IBM Plex Mono"/>
              </a:rPr>
              <a:t>PostgreSQL 16 + PostGIS
Neon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578608"/>
            <a:ext cx="146303" cy="25603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5" y="2578608"/>
            <a:ext cx="146303" cy="25603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4142231" y="2528315"/>
            <a:ext cx="179222" cy="179222"/>
          </a:xfrm>
          <a:prstGeom prst="diamond">
            <a:avLst/>
          </a:prstGeom>
          <a:solidFill>
            <a:srgbClr val="E2A83B"/>
          </a:solidFill>
          <a:ln w="9525">
            <a:solidFill>
              <a:srgbClr val="123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2578608"/>
            <a:ext cx="146303" cy="25603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2578608"/>
            <a:ext cx="146303" cy="25603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7891272" y="2528315"/>
            <a:ext cx="179222" cy="179222"/>
          </a:xfrm>
          <a:prstGeom prst="diamond">
            <a:avLst/>
          </a:prstGeom>
          <a:solidFill>
            <a:srgbClr val="E2A83B"/>
          </a:solidFill>
          <a:ln w="9525">
            <a:solidFill>
              <a:srgbClr val="123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813048"/>
            <a:ext cx="146304" cy="41148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3703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Raio no banco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032504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F7076"/>
                </a:solidFill>
                <a:latin typeface="IBM Plex Sans"/>
              </a:rPr>
              <a:t>ST_DWithin usa o índice GIST; trocar pela distância no WHERE vira varredura da tabela.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956048"/>
            <a:ext cx="146304" cy="41148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2" y="4846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Pareamento explicado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5175504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F7076"/>
                </a:solidFill>
                <a:latin typeface="IBM Plex Sans"/>
              </a:rPr>
              <a:t>Compara porte, cor, coleira, distância e tempo. Mostra o que bateu e o que não.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813048"/>
            <a:ext cx="146304" cy="41148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3703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Privacidade por construção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032504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F7076"/>
                </a:solidFill>
                <a:latin typeface="IBM Plex Sans"/>
              </a:rPr>
              <a:t>Área aproximada fixa por caso, foto sem EXIF, código de edição guardado como hash.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956048"/>
            <a:ext cx="146304" cy="41148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56832" y="4846320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23E4A"/>
                </a:solidFill>
                <a:latin typeface="IBM Plex Sans"/>
              </a:rPr>
              <a:t>Uma fonte só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56832" y="5175504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5F7076"/>
                </a:solidFill>
                <a:latin typeface="IBM Plex Sans"/>
              </a:rPr>
              <a:t>Vocabulário e formato das requisições declarados uma vez; banco, API e telas derivam dali.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MODELAGEM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23E4A"/>
                </a:solidFill>
                <a:latin typeface="Commissioner"/>
              </a:rPr>
              <a:t>UML gerada do próprio código</a:t>
            </a:r>
          </a:p>
        </p:txBody>
      </p:sp>
      <p:pic>
        <p:nvPicPr>
          <p:cNvPr id="5" name="Picture 4" descr="casos-de-u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2461287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6301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7076"/>
                </a:solidFill>
                <a:latin typeface="IBM Plex Mono"/>
              </a:rPr>
              <a:t>Casos de uso</a:t>
            </a:r>
          </a:p>
        </p:txBody>
      </p:sp>
      <p:pic>
        <p:nvPicPr>
          <p:cNvPr id="7" name="Picture 6" descr="clas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74519"/>
            <a:ext cx="4157956" cy="1691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09360" y="36301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7076"/>
                </a:solidFill>
                <a:latin typeface="IBM Plex Mono"/>
              </a:rPr>
              <a:t>Classes, do schema do banco</a:t>
            </a:r>
          </a:p>
        </p:txBody>
      </p:sp>
      <p:pic>
        <p:nvPicPr>
          <p:cNvPr id="9" name="Picture 8" descr="estad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14800"/>
            <a:ext cx="3617976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8704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7076"/>
                </a:solidFill>
                <a:latin typeface="IBM Plex Mono"/>
              </a:rPr>
              <a:t>Estados do caso, das transições declaradas</a:t>
            </a:r>
          </a:p>
        </p:txBody>
      </p:sp>
      <p:pic>
        <p:nvPicPr>
          <p:cNvPr id="11" name="Picture 10" descr="sequencia-publi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114800"/>
            <a:ext cx="2675954" cy="1691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09360" y="58704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5F7076"/>
                </a:solidFill>
                <a:latin typeface="IBM Plex Mono"/>
              </a:rPr>
              <a:t>Sequência: publicar e receber pistas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2F8587"/>
                </a:solidFill>
                <a:latin typeface="IBM Plex Mono"/>
              </a:rPr>
              <a:t>QUALIDADE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23E4A"/>
                </a:solidFill>
                <a:latin typeface="Commissioner"/>
              </a:rPr>
              <a:t>316 testes automáticos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2468880" cy="41148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23E4A"/>
                </a:solidFill>
                <a:latin typeface="Commissioner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Contratos e vocabulário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3520440" y="2148840"/>
            <a:ext cx="2468880" cy="41148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23317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23E4A"/>
                </a:solidFill>
                <a:latin typeface="Commissioner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246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API, unidade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48840"/>
            <a:ext cx="2468880" cy="41148"/>
          </a:xfrm>
          <a:prstGeom prst="rect">
            <a:avLst/>
          </a:prstGeom>
          <a:solidFill>
            <a:srgbClr val="E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23E4A"/>
                </a:solidFill>
                <a:latin typeface="Commissioner"/>
              </a:rPr>
              <a:t>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46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API, integração com Postgres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2148840"/>
            <a:ext cx="2468880" cy="41148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33172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23E4A"/>
                </a:solidFill>
                <a:latin typeface="Commissioner"/>
              </a:rPr>
              <a:t>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24612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5F7076"/>
                </a:solidFill>
                <a:latin typeface="IBM Plex Sans"/>
              </a:rPr>
              <a:t>Aplicativo, regras de tela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16323A"/>
                </a:solidFill>
                <a:latin typeface="IBM Plex Sans"/>
              </a:rPr>
              <a:t>Escrito antes do código, em todo incremento: o teste é visto falhando antes de passar.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6323A"/>
                </a:solidFill>
                <a:latin typeface="IBM Plex Sans"/>
              </a:rPr>
              <a:t>A integração roda contra PostgreSQL com PostGIS de verdade, num contêiner, e não contra imitação.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6323A"/>
                </a:solidFill>
                <a:latin typeface="IBM Plex Sans"/>
              </a:rPr>
              <a:t>Diagramas e restrições do banco gerados do código têm teste que reprova quando ficam para trás.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400" b="0">
                <a:solidFill>
                  <a:srgbClr val="16323A"/>
                </a:solidFill>
                <a:latin typeface="IBM Plex Sans"/>
              </a:rPr>
              <a:t>Testes que conferem, a cada rodada, que contato, código e ponto exato nunca saem nas respostas públicas.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Achei um Bicho · UFOPA · Laboratório de Desenvolvimento de Software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3276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7076"/>
                </a:solidFill>
                <a:latin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3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spc="140">
                <a:solidFill>
                  <a:srgbClr val="8FB4B2"/>
                </a:solidFill>
                <a:latin typeface="IBM Plex Mono"/>
              </a:rPr>
              <a:t>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6583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>
                <a:solidFill>
                  <a:srgbClr val="B6CECB"/>
                </a:solidFill>
                <a:latin typeface="IBM Plex Sans"/>
              </a:rPr>
              <a:t>F6 · verificação por sinal particular antes de qualquer contato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50" b="0">
                <a:solidFill>
                  <a:srgbClr val="B6CECB"/>
                </a:solidFill>
                <a:latin typeface="IBM Plex Sans"/>
              </a:rPr>
              <a:t>F7 · contato liberado só pelo autor, com teste de vazamento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50" b="0">
                <a:solidFill>
                  <a:srgbClr val="B6CECB"/>
                </a:solidFill>
                <a:latin typeface="IBM Plex Sans"/>
              </a:rPr>
              <a:t>F8 · desfecho obrigatório; caso parado é cobrado e expira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50" b="0">
                <a:solidFill>
                  <a:srgbClr val="B6CECB"/>
                </a:solidFill>
                <a:latin typeface="IBM Plex Sans"/>
              </a:rPr>
              <a:t>F9 · publicar sem conexão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550" b="0">
                <a:solidFill>
                  <a:srgbClr val="B6CECB"/>
                </a:solidFill>
                <a:latin typeface="IBM Plex Sans"/>
              </a:rPr>
              <a:t>Primeira rodada com protetores de Santarém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31920"/>
            <a:ext cx="7315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EEF2EE"/>
                </a:solidFill>
                <a:latin typeface="Commissioner"/>
              </a:rPr>
              <a:t>Obrigado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983480"/>
            <a:ext cx="1426464" cy="25603"/>
          </a:xfrm>
          <a:prstGeom prst="rect">
            <a:avLst/>
          </a:prstGeom>
          <a:solidFill>
            <a:srgbClr val="2F85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96896" y="4983480"/>
            <a:ext cx="1426464" cy="25603"/>
          </a:xfrm>
          <a:prstGeom prst="rect">
            <a:avLst/>
          </a:prstGeom>
          <a:solidFill>
            <a:srgbClr val="B6AA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2404872" y="4933188"/>
            <a:ext cx="179222" cy="179222"/>
          </a:xfrm>
          <a:prstGeom prst="diamond">
            <a:avLst/>
          </a:prstGeom>
          <a:solidFill>
            <a:srgbClr val="E2A83B"/>
          </a:solidFill>
          <a:ln w="9525">
            <a:solidFill>
              <a:srgbClr val="123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8FB4B2"/>
                </a:solidFill>
                <a:latin typeface="IBM Plex Sans"/>
              </a:rPr>
              <a:t>Bruna Kellen · Murilo Falcão · Rafael Nobre</a:t>
            </a:r>
          </a:p>
        </p:txBody>
      </p:sp>
      <p:pic>
        <p:nvPicPr>
          <p:cNvPr id="11" name="Picture 10" descr="qr-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237744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63840" y="397763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EF2EE"/>
                </a:solidFill>
                <a:latin typeface="IBM Plex Sans"/>
              </a:rPr>
              <a:t>Versão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2793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F9799"/>
                </a:solidFill>
                <a:latin typeface="IBM Plex Mono"/>
              </a:rPr>
              <a:t>qualquer celular</a:t>
            </a:r>
          </a:p>
        </p:txBody>
      </p:sp>
      <p:pic>
        <p:nvPicPr>
          <p:cNvPr id="14" name="Picture 13" descr="qr-ap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377440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29800" y="3977639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EF2EE"/>
                </a:solidFill>
                <a:latin typeface="IBM Plex Sans"/>
              </a:rPr>
              <a:t>APK Android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4279392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F9799"/>
                </a:solidFill>
                <a:latin typeface="IBM Plex Mono"/>
              </a:rPr>
              <a:t>instalar sem loja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