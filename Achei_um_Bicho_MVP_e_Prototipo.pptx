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D3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140">
                <a:solidFill>
                  <a:srgbClr val="8FB4B2"/>
                </a:solidFill>
                <a:latin typeface="IBM Plex Mono"/>
              </a:rPr>
              <a:t>LABORATÓRIO DE DESENVOLVIMENTO DE SOFTWARE · UFOPA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6600" b="1">
                <a:solidFill>
                  <a:srgbClr val="EEF2EE"/>
                </a:solidFill>
                <a:latin typeface="Commissioner"/>
              </a:rPr>
              <a:t>Achei um Bicho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B6CECB"/>
                </a:solidFill>
                <a:latin typeface="IBM Plex Sans"/>
              </a:rPr>
              <a:t>Mural de cães e gatos perdidos e encontrados em Santarém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977639"/>
            <a:ext cx="1426464" cy="25603"/>
          </a:xfrm>
          <a:prstGeom prst="rect">
            <a:avLst/>
          </a:prstGeom>
          <a:solidFill>
            <a:srgbClr val="2F8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96896" y="3977639"/>
            <a:ext cx="1426464" cy="25603"/>
          </a:xfrm>
          <a:prstGeom prst="rect">
            <a:avLst/>
          </a:prstGeom>
          <a:solidFill>
            <a:srgbClr val="B6A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iamond 8"/>
          <p:cNvSpPr/>
          <p:nvPr/>
        </p:nvSpPr>
        <p:spPr>
          <a:xfrm>
            <a:off x="2404872" y="3927348"/>
            <a:ext cx="179222" cy="179222"/>
          </a:xfrm>
          <a:prstGeom prst="diamond">
            <a:avLst/>
          </a:prstGeom>
          <a:solidFill>
            <a:srgbClr val="E2A83B"/>
          </a:solidFill>
          <a:ln w="9525">
            <a:solidFill>
              <a:srgbClr val="123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343400"/>
            <a:ext cx="8229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9FBDBB"/>
                </a:solidFill>
                <a:latin typeface="IBM Plex Sans"/>
              </a:rPr>
              <a:t>Desafio 2 — Causa Animal e Cultura · ODS 15 (Vida Terrestre)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9FBDBB"/>
                </a:solidFill>
                <a:latin typeface="IBM Plex Sans"/>
              </a:rPr>
              <a:t>MVP e protótipo de média fidelidade · 28 de agosto de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49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140">
                <a:solidFill>
                  <a:srgbClr val="6F9799"/>
                </a:solidFill>
                <a:latin typeface="IBM Plex Mono"/>
              </a:rPr>
              <a:t>EQUIPE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62356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B6CECB"/>
                </a:solidFill>
                <a:latin typeface="IBM Plex Sans"/>
              </a:rPr>
              <a:t>Bruna Kellen · Murilo Falcão · Rafael Nobre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9144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140">
                <a:solidFill>
                  <a:srgbClr val="2F8587"/>
                </a:solidFill>
                <a:latin typeface="IBM Plex Mono"/>
              </a:rPr>
              <a:t>O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63093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>
                <a:solidFill>
                  <a:srgbClr val="123E4A"/>
                </a:solidFill>
                <a:latin typeface="Commissioner"/>
              </a:rPr>
              <a:t>As duas informações existem.</a:t>
            </a:r>
          </a:p>
          <a:p>
            <a:pPr algn="l">
              <a:lnSpc>
                <a:spcPct val="108000"/>
              </a:lnSpc>
              <a:spcBef>
                <a:spcPts val="600"/>
              </a:spcBef>
            </a:pPr>
            <a:r>
              <a:rPr sz="3400" b="1">
                <a:solidFill>
                  <a:srgbClr val="123E4A"/>
                </a:solidFill>
                <a:latin typeface="Commissioner"/>
              </a:rPr>
              <a:t>Elas é que não se encontram.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03320"/>
            <a:ext cx="60350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16323A"/>
                </a:solidFill>
                <a:latin typeface="IBM Plex Sans"/>
              </a:rPr>
              <a:t>Em Santarém, quem perde um cão publica num grupo de WhatsApp. Quem encontra publica em outro. As duas mensagens são do mesmo dia, da mesma cidade, às vezes do mesmo bairro — e ninguém as compara.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1325880"/>
            <a:ext cx="4069080" cy="3566160"/>
          </a:xfrm>
          <a:prstGeom prst="rect">
            <a:avLst/>
          </a:prstGeom>
          <a:solidFill>
            <a:srgbClr val="E4E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0" y="1325880"/>
            <a:ext cx="54864" cy="3566160"/>
          </a:xfrm>
          <a:prstGeom prst="rect">
            <a:avLst/>
          </a:prstGeom>
          <a:solidFill>
            <a:srgbClr val="E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69164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140">
                <a:solidFill>
                  <a:srgbClr val="5F7076"/>
                </a:solidFill>
                <a:latin typeface="IBM Plex Mono"/>
              </a:rPr>
              <a:t>O CONCORRENTE 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057400"/>
            <a:ext cx="34290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123E4A"/>
                </a:solidFill>
                <a:latin typeface="Commissioner"/>
              </a:rPr>
              <a:t>Não é outro aplicativo. É o grupo de WhatsApp.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3657600"/>
            <a:ext cx="3429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6323A"/>
                </a:solidFill>
                <a:latin typeface="IBM Plex Sans"/>
              </a:rPr>
              <a:t>Funcionalidade que não seja melhor que “postar no grupo” não entra no MVP. Foi esse o critério de corte de tudo que vem a seguir.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076"/>
                </a:solidFill>
                <a:latin typeface="IBM Plex Mono"/>
              </a:rPr>
              <a:t>Achei um Bicho · UFOPA · Laboratório de Desenvolvimento de Software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32764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7076"/>
                </a:solidFill>
                <a:latin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914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140">
                <a:solidFill>
                  <a:srgbClr val="2F8587"/>
                </a:solidFill>
                <a:latin typeface="IBM Plex Mono"/>
              </a:rPr>
              <a:t>A REGRA QUE ORGANIZA O PRODUTO INTEIRO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8229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123E4A"/>
                </a:solidFill>
                <a:latin typeface="Commissioner"/>
              </a:rPr>
              <a:t>O bicho está perto de casa.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514600"/>
            <a:ext cx="3429000" cy="41148"/>
          </a:xfrm>
          <a:prstGeom prst="rect">
            <a:avLst/>
          </a:prstGeom>
          <a:solidFill>
            <a:srgbClr val="2F8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34290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123E4A"/>
                </a:solidFill>
                <a:latin typeface="Commissioner"/>
              </a:rPr>
              <a:t>70%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49039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F7076"/>
                </a:solidFill>
                <a:latin typeface="IBM Plex Sans"/>
              </a:rPr>
              <a:t>dos cães recuperados estavam a menos de 1,6 km de casa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6280" y="2514600"/>
            <a:ext cx="3429000" cy="41148"/>
          </a:xfrm>
          <a:prstGeom prst="rect">
            <a:avLst/>
          </a:prstGeom>
          <a:solidFill>
            <a:srgbClr val="123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697480"/>
            <a:ext cx="34290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123E4A"/>
                </a:solidFill>
                <a:latin typeface="Commissioner"/>
              </a:rPr>
              <a:t>42%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3749039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F7076"/>
                </a:solidFill>
                <a:latin typeface="IBM Plex Sans"/>
              </a:rPr>
              <a:t>estavam a menos de um quarteirão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2514600"/>
            <a:ext cx="3429000" cy="41148"/>
          </a:xfrm>
          <a:prstGeom prst="rect">
            <a:avLst/>
          </a:prstGeom>
          <a:solidFill>
            <a:srgbClr val="E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697480"/>
            <a:ext cx="34290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123E4A"/>
                </a:solidFill>
                <a:latin typeface="Commissioner"/>
              </a:rPr>
              <a:t>1,6 km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749039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F7076"/>
                </a:solidFill>
                <a:latin typeface="IBM Plex Sans"/>
              </a:rPr>
              <a:t>é o raio padrão do mural, visível e editável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70916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6323A"/>
                </a:solidFill>
                <a:latin typeface="IBM Plex Sans"/>
              </a:rPr>
              <a:t>Alerta de vizinhança supera divulgação para a cidade inteira. Toda decisão de produto deste projeto sai daí — inclusive as que cortamos.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349240"/>
            <a:ext cx="10515600" cy="10972"/>
          </a:xfrm>
          <a:prstGeom prst="rect">
            <a:avLst/>
          </a:prstGeom>
          <a:solidFill>
            <a:srgbClr val="C7D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468112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5F7076"/>
                </a:solidFill>
                <a:latin typeface="IBM Plex Sans"/>
              </a:rPr>
              <a:t>Fonte: Kremer, T. (2021). A New Web-Based Tool for RTO-Focused Animal Shelter Data Analysis. Frontiers in Veterinary Science. Dados do abrigo público de Dallas, 2019. Consultado em 26/08/2026.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950" b="0">
                <a:solidFill>
                  <a:srgbClr val="5F7076"/>
                </a:solidFill>
                <a:latin typeface="IBM Plex Sans"/>
              </a:rPr>
              <a:t>Estudo norte-americano: ponto de partida, não verdade local. A primeira rodada com protetores de Santarém vai testar se o raio se confirma aqui.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076"/>
                </a:solidFill>
                <a:latin typeface="IBM Plex Mono"/>
              </a:rPr>
              <a:t>Achei um Bicho · UFOPA · Laboratório de Desenvolvimento de Software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32764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7076"/>
                </a:solidFill>
                <a:latin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583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140">
                <a:solidFill>
                  <a:srgbClr val="2F8587"/>
                </a:solidFill>
                <a:latin typeface="IBM Plex Mono"/>
              </a:rPr>
              <a:t>O QUE O MVP FAZ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123E4A"/>
                </a:solidFill>
                <a:latin typeface="Commissioner"/>
              </a:rPr>
              <a:t>Nove funcionalidades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002536"/>
            <a:ext cx="457200" cy="274320"/>
          </a:xfrm>
          <a:prstGeom prst="rect">
            <a:avLst/>
          </a:prstGeom>
          <a:solidFill>
            <a:srgbClr val="2F8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BM Plex Mono"/>
              </a:rPr>
              <a:t>F1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4752" y="196596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23E4A"/>
                </a:solidFill>
                <a:latin typeface="IBM Plex Sans"/>
              </a:rPr>
              <a:t>Publicar bicho perdido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4752" y="2240279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5F7076"/>
                </a:solidFill>
                <a:latin typeface="IBM Plex Sans"/>
              </a:rPr>
              <a:t>Tutor informa atributos, local, hora e três sinais particulares.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871215"/>
            <a:ext cx="457200" cy="274320"/>
          </a:xfrm>
          <a:prstGeom prst="rect">
            <a:avLst/>
          </a:prstGeom>
          <a:solidFill>
            <a:srgbClr val="2F8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BM Plex Mono"/>
              </a:rPr>
              <a:t>F2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2834639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23E4A"/>
                </a:solidFill>
                <a:latin typeface="IBM Plex Sans"/>
              </a:rPr>
              <a:t>Publicar bicho encontrado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3108959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5F7076"/>
                </a:solidFill>
                <a:latin typeface="IBM Plex Sans"/>
              </a:rPr>
              <a:t>Sem criar conta. Devolve um código para editar depois.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739896"/>
            <a:ext cx="457200" cy="274320"/>
          </a:xfrm>
          <a:prstGeom prst="rect">
            <a:avLst/>
          </a:prstGeom>
          <a:solidFill>
            <a:srgbClr val="2F8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BM Plex Mono"/>
              </a:rPr>
              <a:t>F3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370332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23E4A"/>
                </a:solidFill>
                <a:latin typeface="IBM Plex Sans"/>
              </a:rPr>
              <a:t>Mural por proximidade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3977639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5F7076"/>
                </a:solidFill>
                <a:latin typeface="IBM Plex Sans"/>
              </a:rPr>
              <a:t>Raio padrão de 1,6 km, visível e ajustável.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608576"/>
            <a:ext cx="457200" cy="274320"/>
          </a:xfrm>
          <a:prstGeom prst="rect">
            <a:avLst/>
          </a:prstGeom>
          <a:solidFill>
            <a:srgbClr val="2F8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BM Plex Mono"/>
              </a:rPr>
              <a:t>F4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4752" y="457200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23E4A"/>
                </a:solidFill>
                <a:latin typeface="IBM Plex Sans"/>
              </a:rPr>
              <a:t>Caso aberto e avistamento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2" y="4846320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5F7076"/>
                </a:solidFill>
                <a:latin typeface="IBM Plex Sans"/>
              </a:rPr>
              <a:t>Quem viu na rua registra sem expor contato de ninguém.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5477255"/>
            <a:ext cx="457200" cy="274320"/>
          </a:xfrm>
          <a:prstGeom prst="rect">
            <a:avLst/>
          </a:prstGeom>
          <a:solidFill>
            <a:srgbClr val="2F8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BM Plex Mono"/>
              </a:rPr>
              <a:t>F5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4752" y="5440679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23E4A"/>
                </a:solidFill>
                <a:latin typeface="IBM Plex Sans"/>
              </a:rPr>
              <a:t>Pareamento determinístico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4752" y="5714999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5F7076"/>
                </a:solidFill>
                <a:latin typeface="IBM Plex Sans"/>
              </a:rPr>
              <a:t>Compara atributos e distância. Mostra o que bateu e o que não.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83480" y="2002536"/>
            <a:ext cx="457200" cy="274320"/>
          </a:xfrm>
          <a:prstGeom prst="rect">
            <a:avLst/>
          </a:prstGeom>
          <a:solidFill>
            <a:srgbClr val="2F8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BM Plex Mono"/>
              </a:rPr>
              <a:t>F6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05272" y="196596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23E4A"/>
                </a:solidFill>
                <a:latin typeface="IBM Plex Sans"/>
              </a:rPr>
              <a:t>Verificação por sinal particular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05272" y="2240279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5F7076"/>
                </a:solidFill>
                <a:latin typeface="IBM Plex Sans"/>
              </a:rPr>
              <a:t>Prova antes do contato, sem botão “é meu”.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83480" y="2871215"/>
            <a:ext cx="457200" cy="274320"/>
          </a:xfrm>
          <a:prstGeom prst="rect">
            <a:avLst/>
          </a:prstGeom>
          <a:solidFill>
            <a:srgbClr val="2F8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BM Plex Mono"/>
              </a:rPr>
              <a:t>F7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05272" y="2834639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23E4A"/>
                </a:solidFill>
                <a:latin typeface="IBM Plex Sans"/>
              </a:rPr>
              <a:t>Contato mediado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05272" y="3108959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5F7076"/>
                </a:solidFill>
                <a:latin typeface="IBM Plex Sans"/>
              </a:rPr>
              <a:t>Telefone só aparece depois que o autor libera.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83480" y="3739896"/>
            <a:ext cx="457200" cy="274320"/>
          </a:xfrm>
          <a:prstGeom prst="rect">
            <a:avLst/>
          </a:prstGeom>
          <a:solidFill>
            <a:srgbClr val="2F8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BM Plex Mono"/>
              </a:rPr>
              <a:t>F8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05272" y="370332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23E4A"/>
                </a:solidFill>
                <a:latin typeface="IBM Plex Sans"/>
              </a:rPr>
              <a:t>Ciclo de vida do caso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05272" y="3977639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5F7076"/>
                </a:solidFill>
                <a:latin typeface="IBM Plex Sans"/>
              </a:rPr>
              <a:t>Desfecho obrigatório. Caso parado expira.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83480" y="4608576"/>
            <a:ext cx="457200" cy="274320"/>
          </a:xfrm>
          <a:prstGeom prst="rect">
            <a:avLst/>
          </a:prstGeom>
          <a:solidFill>
            <a:srgbClr val="2F8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BM Plex Mono"/>
              </a:rPr>
              <a:t>F9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05272" y="457200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23E4A"/>
                </a:solidFill>
                <a:latin typeface="IBM Plex Sans"/>
              </a:rPr>
              <a:t>Publicação sem conexão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05272" y="4846320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5F7076"/>
                </a:solidFill>
                <a:latin typeface="IBM Plex Sans"/>
              </a:rPr>
              <a:t>Fila no aparelho, sobe quando a internet volta.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52560" y="1874519"/>
            <a:ext cx="2331720" cy="3977639"/>
          </a:xfrm>
          <a:prstGeom prst="rect">
            <a:avLst/>
          </a:prstGeom>
          <a:solidFill>
            <a:srgbClr val="123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81160" y="214884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140">
                <a:solidFill>
                  <a:srgbClr val="8FB4B2"/>
                </a:solidFill>
                <a:latin typeface="IBM Plex Mono"/>
              </a:rPr>
              <a:t>VEJA AS TELAS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2450592"/>
            <a:ext cx="1920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EEF2EE"/>
                </a:solidFill>
                <a:latin typeface="Commissioner"/>
              </a:rPr>
              <a:t>Protótipo navegável</a:t>
            </a:r>
          </a:p>
        </p:txBody>
      </p:sp>
      <p:pic>
        <p:nvPicPr>
          <p:cNvPr id="35" name="Picture 34" descr="qr-prototi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8048" y="3401568"/>
            <a:ext cx="1600200" cy="16002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281160" y="5138928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B6CECB"/>
                </a:solidFill>
                <a:latin typeface="IBM Plex Sans"/>
              </a:rPr>
              <a:t>Aponte a câmera para abrir no celular.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076"/>
                </a:solidFill>
                <a:latin typeface="IBM Plex Mono"/>
              </a:rPr>
              <a:t>Achei um Bicho · UFOPA · Laboratório de Desenvolvimento de Software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0" y="632764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7076"/>
                </a:solidFill>
                <a:latin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la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66928"/>
            <a:ext cx="2645043" cy="57241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77639" y="10515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140">
                <a:solidFill>
                  <a:srgbClr val="2F8587"/>
                </a:solidFill>
                <a:latin typeface="IBM Plex Mono"/>
              </a:rPr>
              <a:t>01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1371600"/>
            <a:ext cx="749807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>
                <a:solidFill>
                  <a:srgbClr val="123E4A"/>
                </a:solidFill>
                <a:latin typeface="Commissioner"/>
              </a:rPr>
              <a:t>Casos perto de você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77639" y="2395728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>
                <a:solidFill>
                  <a:srgbClr val="16323A"/>
                </a:solidFill>
                <a:latin typeface="IBM Plex Sans"/>
              </a:rPr>
              <a:t>O mural abre no bairro de quem está olhando, com raio de 1,6 km.</a:t>
            </a:r>
          </a:p>
        </p:txBody>
      </p:sp>
      <p:sp>
        <p:nvSpPr>
          <p:cNvPr id="7" name="Rectangle 6"/>
          <p:cNvSpPr/>
          <p:nvPr/>
        </p:nvSpPr>
        <p:spPr>
          <a:xfrm>
            <a:off x="3977639" y="3721608"/>
            <a:ext cx="146304" cy="41148"/>
          </a:xfrm>
          <a:prstGeom prst="rect">
            <a:avLst/>
          </a:prstGeom>
          <a:solidFill>
            <a:srgbClr val="B6A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5112" y="3611880"/>
            <a:ext cx="6583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>
                <a:solidFill>
                  <a:srgbClr val="5F7076"/>
                </a:solidFill>
                <a:latin typeface="IBM Plex Sans"/>
              </a:rPr>
              <a:t>Azul da água marca quem sumiu; silte do rio marca quem foi achado. A cor faz o trabalho que um ícone faria.</a:t>
            </a:r>
          </a:p>
        </p:txBody>
      </p:sp>
      <p:sp>
        <p:nvSpPr>
          <p:cNvPr id="9" name="Rectangle 8"/>
          <p:cNvSpPr/>
          <p:nvPr/>
        </p:nvSpPr>
        <p:spPr>
          <a:xfrm>
            <a:off x="3977639" y="4562856"/>
            <a:ext cx="146304" cy="41148"/>
          </a:xfrm>
          <a:prstGeom prst="rect">
            <a:avLst/>
          </a:prstGeom>
          <a:solidFill>
            <a:srgbClr val="B6A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5112" y="4453128"/>
            <a:ext cx="6583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>
                <a:solidFill>
                  <a:srgbClr val="5F7076"/>
                </a:solidFill>
                <a:latin typeface="IBM Plex Sans"/>
              </a:rPr>
              <a:t>O raio fica no topo, visível e editável — não escondido dentro de ajustes.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54406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140">
                <a:solidFill>
                  <a:srgbClr val="5F7076"/>
                </a:solidFill>
                <a:latin typeface="IBM Plex Mono"/>
              </a:rPr>
              <a:t>ATENDE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77639" y="5742432"/>
            <a:ext cx="566928" cy="274320"/>
          </a:xfrm>
          <a:prstGeom prst="rect">
            <a:avLst/>
          </a:prstGeom>
          <a:solidFill>
            <a:srgbClr val="123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BM Plex Mono"/>
              </a:rPr>
              <a:t>F3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076"/>
                </a:solidFill>
                <a:latin typeface="IBM Plex Mono"/>
              </a:rPr>
              <a:t>Achei um Bicho · UFOPA · Laboratório de Desenvolvimento de Software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32764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7076"/>
                </a:solidFill>
                <a:latin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la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66928"/>
            <a:ext cx="2645043" cy="57241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77639" y="10515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140">
                <a:solidFill>
                  <a:srgbClr val="2F8587"/>
                </a:solidFill>
                <a:latin typeface="IBM Plex Mono"/>
              </a:rPr>
              <a:t>02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1371600"/>
            <a:ext cx="749807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>
                <a:solidFill>
                  <a:srgbClr val="123E4A"/>
                </a:solidFill>
                <a:latin typeface="Commissioner"/>
              </a:rPr>
              <a:t>Caso aberto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77639" y="2395728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>
                <a:solidFill>
                  <a:srgbClr val="16323A"/>
                </a:solidFill>
                <a:latin typeface="IBM Plex Sans"/>
              </a:rPr>
              <a:t>Quem passou na rua tem uma informação. Quem perdeu tem uma reivindicação. São caminhos diferentes.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977639" y="3721608"/>
            <a:ext cx="146304" cy="41148"/>
          </a:xfrm>
          <a:prstGeom prst="rect">
            <a:avLst/>
          </a:prstGeom>
          <a:solidFill>
            <a:srgbClr val="B6A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5112" y="3611880"/>
            <a:ext cx="6583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>
                <a:solidFill>
                  <a:srgbClr val="5F7076"/>
                </a:solidFill>
                <a:latin typeface="IBM Plex Sans"/>
              </a:rPr>
              <a:t>Duas ações separadas de propósito: “vi esse bicho na rua” e “acho que esse bicho é meu”.</a:t>
            </a:r>
          </a:p>
        </p:txBody>
      </p:sp>
      <p:sp>
        <p:nvSpPr>
          <p:cNvPr id="9" name="Rectangle 8"/>
          <p:cNvSpPr/>
          <p:nvPr/>
        </p:nvSpPr>
        <p:spPr>
          <a:xfrm>
            <a:off x="3977639" y="4562856"/>
            <a:ext cx="146304" cy="41148"/>
          </a:xfrm>
          <a:prstGeom prst="rect">
            <a:avLst/>
          </a:prstGeom>
          <a:solidFill>
            <a:srgbClr val="B6A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5112" y="4453128"/>
            <a:ext cx="6583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>
                <a:solidFill>
                  <a:srgbClr val="5F7076"/>
                </a:solidFill>
                <a:latin typeface="IBM Plex Sans"/>
              </a:rPr>
              <a:t>Telefone e endereço exato não aparecem aqui. O mapa mostra área aproximada, nunca a casa de alguém.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54406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140">
                <a:solidFill>
                  <a:srgbClr val="5F7076"/>
                </a:solidFill>
                <a:latin typeface="IBM Plex Mono"/>
              </a:rPr>
              <a:t>ATENDE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77639" y="5742432"/>
            <a:ext cx="566928" cy="274320"/>
          </a:xfrm>
          <a:prstGeom prst="rect">
            <a:avLst/>
          </a:prstGeom>
          <a:solidFill>
            <a:srgbClr val="123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BM Plex Mono"/>
              </a:rPr>
              <a:t>F4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076"/>
                </a:solidFill>
                <a:latin typeface="IBM Plex Mono"/>
              </a:rPr>
              <a:t>Achei um Bicho · UFOPA · Laboratório de Desenvolvimento de Software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32764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7076"/>
                </a:solidFill>
                <a:latin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la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66928"/>
            <a:ext cx="2645043" cy="57241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77639" y="10515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140">
                <a:solidFill>
                  <a:srgbClr val="2F8587"/>
                </a:solidFill>
                <a:latin typeface="IBM Plex Mono"/>
              </a:rPr>
              <a:t>03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1371600"/>
            <a:ext cx="749807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>
                <a:solidFill>
                  <a:srgbClr val="123E4A"/>
                </a:solidFill>
                <a:latin typeface="Commissioner"/>
              </a:rPr>
              <a:t>Publicar — quem perdeu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77639" y="2395728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>
                <a:solidFill>
                  <a:srgbClr val="16323A"/>
                </a:solidFill>
                <a:latin typeface="IBM Plex Sans"/>
              </a:rPr>
              <a:t>O lado do tutor pede o que só ele tem: nome, quando sumiu, onde o bicho costuma andar.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3977639" y="3721608"/>
            <a:ext cx="146304" cy="41148"/>
          </a:xfrm>
          <a:prstGeom prst="rect">
            <a:avLst/>
          </a:prstGeom>
          <a:solidFill>
            <a:srgbClr val="B6A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5112" y="3611880"/>
            <a:ext cx="6583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>
                <a:solidFill>
                  <a:srgbClr val="5F7076"/>
                </a:solidFill>
                <a:latin typeface="IBM Plex Sans"/>
              </a:rPr>
              <a:t>Aqui nasce a prova usada na verificação: o primeiro dos três sinais particulares.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977639" y="4562856"/>
            <a:ext cx="146304" cy="41148"/>
          </a:xfrm>
          <a:prstGeom prst="rect">
            <a:avLst/>
          </a:prstGeom>
          <a:solidFill>
            <a:srgbClr val="B6A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5112" y="4453128"/>
            <a:ext cx="6583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>
                <a:solidFill>
                  <a:srgbClr val="5F7076"/>
                </a:solidFill>
                <a:latin typeface="IBM Plex Sans"/>
              </a:rPr>
              <a:t>Ninguém mais vê essa resposta. Sem esta etapa, não existiria verificação nenhuma.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54406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140">
                <a:solidFill>
                  <a:srgbClr val="5F7076"/>
                </a:solidFill>
                <a:latin typeface="IBM Plex Mono"/>
              </a:rPr>
              <a:t>ATENDE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77639" y="5742432"/>
            <a:ext cx="566928" cy="274320"/>
          </a:xfrm>
          <a:prstGeom prst="rect">
            <a:avLst/>
          </a:prstGeom>
          <a:solidFill>
            <a:srgbClr val="123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BM Plex Mono"/>
              </a:rPr>
              <a:t>F1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36007" y="5742432"/>
            <a:ext cx="566928" cy="274320"/>
          </a:xfrm>
          <a:prstGeom prst="rect">
            <a:avLst/>
          </a:prstGeom>
          <a:solidFill>
            <a:srgbClr val="123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BM Plex Mono"/>
              </a:rPr>
              <a:t>F6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076"/>
                </a:solidFill>
                <a:latin typeface="IBM Plex Mono"/>
              </a:rPr>
              <a:t>Achei um Bicho · UFOPA · Laboratório de Desenvolvimento de Software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32764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7076"/>
                </a:solidFill>
                <a:latin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la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66928"/>
            <a:ext cx="2645043" cy="57241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77639" y="10515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140">
                <a:solidFill>
                  <a:srgbClr val="2F8587"/>
                </a:solidFill>
                <a:latin typeface="IBM Plex Mono"/>
              </a:rPr>
              <a:t>04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1371600"/>
            <a:ext cx="749807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>
                <a:solidFill>
                  <a:srgbClr val="123E4A"/>
                </a:solidFill>
                <a:latin typeface="Commissioner"/>
              </a:rPr>
              <a:t>Publicar — quem achou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77639" y="2395728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>
                <a:solidFill>
                  <a:srgbClr val="16323A"/>
                </a:solidFill>
                <a:latin typeface="IBM Plex Sans"/>
              </a:rPr>
              <a:t>Publicação em quatro passos, sem criar conta, só com campo de escolha fechada.</a:t>
            </a:r>
          </a:p>
        </p:txBody>
      </p:sp>
      <p:sp>
        <p:nvSpPr>
          <p:cNvPr id="7" name="Rectangle 6"/>
          <p:cNvSpPr/>
          <p:nvPr/>
        </p:nvSpPr>
        <p:spPr>
          <a:xfrm>
            <a:off x="3977639" y="3721608"/>
            <a:ext cx="146304" cy="41148"/>
          </a:xfrm>
          <a:prstGeom prst="rect">
            <a:avLst/>
          </a:prstGeom>
          <a:solidFill>
            <a:srgbClr val="B6A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5112" y="3611880"/>
            <a:ext cx="6583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>
                <a:solidFill>
                  <a:srgbClr val="5F7076"/>
                </a:solidFill>
                <a:latin typeface="IBM Plex Sans"/>
              </a:rPr>
              <a:t>Porte, cor dominante e coleira são exatamente os três atributos que o pareamento compara.</a:t>
            </a:r>
          </a:p>
        </p:txBody>
      </p:sp>
      <p:sp>
        <p:nvSpPr>
          <p:cNvPr id="9" name="Rectangle 8"/>
          <p:cNvSpPr/>
          <p:nvPr/>
        </p:nvSpPr>
        <p:spPr>
          <a:xfrm>
            <a:off x="3977639" y="4562856"/>
            <a:ext cx="146304" cy="41148"/>
          </a:xfrm>
          <a:prstGeom prst="rect">
            <a:avLst/>
          </a:prstGeom>
          <a:solidFill>
            <a:srgbClr val="B6A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5112" y="4453128"/>
            <a:ext cx="6583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>
                <a:solidFill>
                  <a:srgbClr val="5F7076"/>
                </a:solidFill>
                <a:latin typeface="IBM Plex Sans"/>
              </a:rPr>
              <a:t>Quem acha um bicho na rua está com pressa e com uma mão só. Exigir cadastro perde o caso.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54406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140">
                <a:solidFill>
                  <a:srgbClr val="5F7076"/>
                </a:solidFill>
                <a:latin typeface="IBM Plex Mono"/>
              </a:rPr>
              <a:t>ATENDE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77639" y="5742432"/>
            <a:ext cx="566928" cy="274320"/>
          </a:xfrm>
          <a:prstGeom prst="rect">
            <a:avLst/>
          </a:prstGeom>
          <a:solidFill>
            <a:srgbClr val="123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BM Plex Mono"/>
              </a:rPr>
              <a:t>F2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076"/>
                </a:solidFill>
                <a:latin typeface="IBM Plex Mono"/>
              </a:rPr>
              <a:t>Achei um Bicho · UFOPA · Laboratório de Desenvolvimento de Software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32764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7076"/>
                </a:solidFill>
                <a:latin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la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66928"/>
            <a:ext cx="2645043" cy="57241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77639" y="10515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140">
                <a:solidFill>
                  <a:srgbClr val="2F8587"/>
                </a:solidFill>
                <a:latin typeface="IBM Plex Mono"/>
              </a:rPr>
              <a:t>05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1371600"/>
            <a:ext cx="749807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>
                <a:solidFill>
                  <a:srgbClr val="123E4A"/>
                </a:solidFill>
                <a:latin typeface="Commissioner"/>
              </a:rPr>
              <a:t>Pistas — pode ser o mesmo bicho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77639" y="2395728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>
                <a:solidFill>
                  <a:srgbClr val="16323A"/>
                </a:solidFill>
                <a:latin typeface="IBM Plex Sans"/>
              </a:rPr>
              <a:t>O sistema aproxima dois casos e explica por quê. Quem decide é uma pessoa.</a:t>
            </a:r>
          </a:p>
        </p:txBody>
      </p:sp>
      <p:sp>
        <p:nvSpPr>
          <p:cNvPr id="7" name="Rectangle 6"/>
          <p:cNvSpPr/>
          <p:nvPr/>
        </p:nvSpPr>
        <p:spPr>
          <a:xfrm>
            <a:off x="3977639" y="3721608"/>
            <a:ext cx="146304" cy="41148"/>
          </a:xfrm>
          <a:prstGeom prst="rect">
            <a:avLst/>
          </a:prstGeom>
          <a:solidFill>
            <a:srgbClr val="B6A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5112" y="3611880"/>
            <a:ext cx="6583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>
                <a:solidFill>
                  <a:srgbClr val="5F7076"/>
                </a:solidFill>
                <a:latin typeface="IBM Plex Sans"/>
              </a:rPr>
              <a:t>Sem porcentagem de compatibilidade: mostra o que bateu e também o que não bateu.</a:t>
            </a:r>
          </a:p>
        </p:txBody>
      </p:sp>
      <p:sp>
        <p:nvSpPr>
          <p:cNvPr id="9" name="Rectangle 8"/>
          <p:cNvSpPr/>
          <p:nvPr/>
        </p:nvSpPr>
        <p:spPr>
          <a:xfrm>
            <a:off x="3977639" y="4562856"/>
            <a:ext cx="146304" cy="41148"/>
          </a:xfrm>
          <a:prstGeom prst="rect">
            <a:avLst/>
          </a:prstGeom>
          <a:solidFill>
            <a:srgbClr val="B6A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5112" y="4453128"/>
            <a:ext cx="6583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>
                <a:solidFill>
                  <a:srgbClr val="5F7076"/>
                </a:solidFill>
                <a:latin typeface="IBM Plex Sans"/>
              </a:rPr>
              <a:t>O segundo par vem com o botão fraco de propósito — o aplicativo não empurra a conclusão.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54406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140">
                <a:solidFill>
                  <a:srgbClr val="5F7076"/>
                </a:solidFill>
                <a:latin typeface="IBM Plex Mono"/>
              </a:rPr>
              <a:t>ATENDE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77639" y="5742432"/>
            <a:ext cx="566928" cy="274320"/>
          </a:xfrm>
          <a:prstGeom prst="rect">
            <a:avLst/>
          </a:prstGeom>
          <a:solidFill>
            <a:srgbClr val="123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BM Plex Mono"/>
              </a:rPr>
              <a:t>F5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076"/>
                </a:solidFill>
                <a:latin typeface="IBM Plex Mono"/>
              </a:rPr>
              <a:t>Achei um Bicho · UFOPA · Laboratório de Desenvolvimento de Software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32764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7076"/>
                </a:solidFill>
                <a:latin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la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66928"/>
            <a:ext cx="2645043" cy="57241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77639" y="10515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140">
                <a:solidFill>
                  <a:srgbClr val="2F8587"/>
                </a:solidFill>
                <a:latin typeface="IBM Plex Mono"/>
              </a:rPr>
              <a:t>06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1371600"/>
            <a:ext cx="749807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>
                <a:solidFill>
                  <a:srgbClr val="123E4A"/>
                </a:solidFill>
                <a:latin typeface="Commissioner"/>
              </a:rPr>
              <a:t>Confirmar que é seu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77639" y="2395728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>
                <a:solidFill>
                  <a:srgbClr val="16323A"/>
                </a:solidFill>
                <a:latin typeface="IBM Plex Sans"/>
              </a:rPr>
              <a:t>Como impedir que alguém leve o animal de outra pessoa.</a:t>
            </a:r>
          </a:p>
        </p:txBody>
      </p:sp>
      <p:sp>
        <p:nvSpPr>
          <p:cNvPr id="7" name="Rectangle 6"/>
          <p:cNvSpPr/>
          <p:nvPr/>
        </p:nvSpPr>
        <p:spPr>
          <a:xfrm>
            <a:off x="3977639" y="3721608"/>
            <a:ext cx="146304" cy="41148"/>
          </a:xfrm>
          <a:prstGeom prst="rect">
            <a:avLst/>
          </a:prstGeom>
          <a:solidFill>
            <a:srgbClr val="B6A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5112" y="3611880"/>
            <a:ext cx="6583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>
                <a:solidFill>
                  <a:srgbClr val="5F7076"/>
                </a:solidFill>
                <a:latin typeface="IBM Plex Sans"/>
              </a:rPr>
              <a:t>Não existe botão “é meu”. Existe prova por sinal particular, guardada por quem achou.</a:t>
            </a:r>
          </a:p>
        </p:txBody>
      </p:sp>
      <p:sp>
        <p:nvSpPr>
          <p:cNvPr id="9" name="Rectangle 8"/>
          <p:cNvSpPr/>
          <p:nvPr/>
        </p:nvSpPr>
        <p:spPr>
          <a:xfrm>
            <a:off x="3977639" y="4562856"/>
            <a:ext cx="146304" cy="41148"/>
          </a:xfrm>
          <a:prstGeom prst="rect">
            <a:avLst/>
          </a:prstGeom>
          <a:solidFill>
            <a:srgbClr val="B6A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5112" y="4453128"/>
            <a:ext cx="6583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>
                <a:solidFill>
                  <a:srgbClr val="5F7076"/>
                </a:solidFill>
                <a:latin typeface="IBM Plex Sans"/>
              </a:rPr>
              <a:t>O aplicativo não decide propriedade. Contato só é liberado pelo autor do caso.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54406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140">
                <a:solidFill>
                  <a:srgbClr val="5F7076"/>
                </a:solidFill>
                <a:latin typeface="IBM Plex Mono"/>
              </a:rPr>
              <a:t>ATENDE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77639" y="5742432"/>
            <a:ext cx="566928" cy="274320"/>
          </a:xfrm>
          <a:prstGeom prst="rect">
            <a:avLst/>
          </a:prstGeom>
          <a:solidFill>
            <a:srgbClr val="123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BM Plex Mono"/>
              </a:rPr>
              <a:t>F6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36007" y="5742432"/>
            <a:ext cx="566928" cy="274320"/>
          </a:xfrm>
          <a:prstGeom prst="rect">
            <a:avLst/>
          </a:prstGeom>
          <a:solidFill>
            <a:srgbClr val="123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BM Plex Mono"/>
              </a:rPr>
              <a:t>F7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076"/>
                </a:solidFill>
                <a:latin typeface="IBM Plex Mono"/>
              </a:rPr>
              <a:t>Achei um Bicho · UFOPA · Laboratório de Desenvolvimento de Software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32764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7076"/>
                </a:solidFill>
                <a:latin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la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66928"/>
            <a:ext cx="2645043" cy="57241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77639" y="10515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140">
                <a:solidFill>
                  <a:srgbClr val="2F8587"/>
                </a:solidFill>
                <a:latin typeface="IBM Plex Mono"/>
              </a:rPr>
              <a:t>07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1371600"/>
            <a:ext cx="749807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>
                <a:solidFill>
                  <a:srgbClr val="123E4A"/>
                </a:solidFill>
                <a:latin typeface="Commissioner"/>
              </a:rPr>
              <a:t>Meus casos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77639" y="2395728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>
                <a:solidFill>
                  <a:srgbClr val="16323A"/>
                </a:solidFill>
                <a:latin typeface="IBM Plex Sans"/>
              </a:rPr>
              <a:t>Acompanhar os próprios casos e informar o desfecho.</a:t>
            </a:r>
          </a:p>
        </p:txBody>
      </p:sp>
      <p:sp>
        <p:nvSpPr>
          <p:cNvPr id="7" name="Rectangle 6"/>
          <p:cNvSpPr/>
          <p:nvPr/>
        </p:nvSpPr>
        <p:spPr>
          <a:xfrm>
            <a:off x="3977639" y="3721608"/>
            <a:ext cx="146304" cy="41148"/>
          </a:xfrm>
          <a:prstGeom prst="rect">
            <a:avLst/>
          </a:prstGeom>
          <a:solidFill>
            <a:srgbClr val="B6A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5112" y="3611880"/>
            <a:ext cx="6583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>
                <a:solidFill>
                  <a:srgbClr val="5F7076"/>
                </a:solidFill>
                <a:latin typeface="IBM Plex Sans"/>
              </a:rPr>
              <a:t>Caso sem resposta há 9 dias é cobrado; sem interação em 15 dias, sai do mural.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3977639" y="4562856"/>
            <a:ext cx="146304" cy="41148"/>
          </a:xfrm>
          <a:prstGeom prst="rect">
            <a:avLst/>
          </a:prstGeom>
          <a:solidFill>
            <a:srgbClr val="B6A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5112" y="4453128"/>
            <a:ext cx="6583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>
                <a:solidFill>
                  <a:srgbClr val="5F7076"/>
                </a:solidFill>
                <a:latin typeface="IBM Plex Sans"/>
              </a:rPr>
              <a:t>É o detalhe que separa este mural de um grupo de WhatsApp cheio de anúncio morto.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54406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140">
                <a:solidFill>
                  <a:srgbClr val="5F7076"/>
                </a:solidFill>
                <a:latin typeface="IBM Plex Mono"/>
              </a:rPr>
              <a:t>ATENDE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77639" y="5742432"/>
            <a:ext cx="566928" cy="274320"/>
          </a:xfrm>
          <a:prstGeom prst="rect">
            <a:avLst/>
          </a:prstGeom>
          <a:solidFill>
            <a:srgbClr val="123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BM Plex Mono"/>
              </a:rPr>
              <a:t>F8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076"/>
                </a:solidFill>
                <a:latin typeface="IBM Plex Mono"/>
              </a:rPr>
              <a:t>Achei um Bicho · UFOPA · Laboratório de Desenvolvimento de Software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32764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7076"/>
                </a:solidFill>
                <a:latin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D3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148840"/>
            <a:ext cx="8229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EEF2EE"/>
                </a:solidFill>
                <a:latin typeface="Commissioner"/>
              </a:rPr>
              <a:t>Obrigado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10128"/>
            <a:ext cx="69494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>
                <a:solidFill>
                  <a:srgbClr val="B6CECB"/>
                </a:solidFill>
                <a:latin typeface="IBM Plex Sans"/>
              </a:rPr>
              <a:t>Quem perdeu e quem achou estão na mesma cidade, no mesmo dia. Falta só se encontrarem.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315968"/>
            <a:ext cx="1426464" cy="25603"/>
          </a:xfrm>
          <a:prstGeom prst="rect">
            <a:avLst/>
          </a:prstGeom>
          <a:solidFill>
            <a:srgbClr val="2F8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96896" y="4315968"/>
            <a:ext cx="1426464" cy="25603"/>
          </a:xfrm>
          <a:prstGeom prst="rect">
            <a:avLst/>
          </a:prstGeom>
          <a:solidFill>
            <a:srgbClr val="B6A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2404872" y="4265676"/>
            <a:ext cx="179222" cy="179222"/>
          </a:xfrm>
          <a:prstGeom prst="diamond">
            <a:avLst/>
          </a:prstGeom>
          <a:solidFill>
            <a:srgbClr val="E2A83B"/>
          </a:solidFill>
          <a:ln w="9525">
            <a:solidFill>
              <a:srgbClr val="123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709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8FB4B2"/>
                </a:solidFill>
                <a:latin typeface="IBM Plex Sans"/>
              </a:rPr>
              <a:t>Bruna Kellen · Murilo Falcão · Rafael Nobre</a:t>
            </a:r>
          </a:p>
        </p:txBody>
      </p:sp>
      <p:pic>
        <p:nvPicPr>
          <p:cNvPr id="10" name="Picture 9" descr="qr-prototi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2331720"/>
            <a:ext cx="1554480" cy="1554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0" y="4041648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EEF2EE"/>
                </a:solidFill>
                <a:latin typeface="IBM Plex Sans"/>
              </a:rPr>
              <a:t>Protótipo navegável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434340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F9799"/>
                </a:solidFill>
                <a:latin typeface="IBM Plex Mono"/>
              </a:rPr>
              <a:t>Aponte a câmera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